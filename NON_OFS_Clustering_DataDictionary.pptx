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EE0000"/>
                </a:solidFill>
                <a:latin typeface="Calibri"/>
              </a:defRPr>
            </a:pPr>
            <a:r>
              <a:t>NON-OFS ILEC Master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Data Dictionary &amp; Build Prioritization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April 22,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Verizon  |  Broadband Strategy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38328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12.26M NON-OFS ILEC addresses clustered into 68,071 build-ready hubs across 2,078 wire centers, with financial quality scoring and obligation tagging.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39" y="1371600"/>
            <a:ext cx="3566160" cy="5029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389888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2011680"/>
            <a:ext cx="338328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Road-graph geospatial clustering using TIGER road networks. 6-phase algorithm: score, snap-to-road, build adjacency graph, seed &amp; grow hubs, enforce size constraints, finalize. Financial quality drives hub formation; obligations are tagged post-formation for stability.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3566160" cy="5029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1389888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39" y="2011680"/>
            <a:ext cx="338328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Oracle tables (CLUSTER_ASSIGNMENT_MASTER at 12.26M rows, CLUSTER_SUMMARY_MASTER at 68K rows) + ArcGIS File GDB (NONOFS_Master.gdb) + 54 MB GeoJSON for Tableau, ArcGIS, and dashboards. Eisenhower 2x2 matrix prioritizes every cluster for build sequencing.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828800"/>
            <a:ext cx="2011680" cy="1234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447" y="19659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EE0000"/>
                </a:solidFill>
                <a:latin typeface="Calibri"/>
              </a:defRPr>
            </a:pPr>
            <a:r>
              <a:t>12.26M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25146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Addresses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9727" y="1828800"/>
            <a:ext cx="2011680" cy="1234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49727" y="19659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EE0000"/>
                </a:solidFill>
                <a:latin typeface="Calibri"/>
              </a:defRPr>
            </a:pPr>
            <a:r>
              <a:t>15.9M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9727" y="25146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Total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0007" y="1828800"/>
            <a:ext cx="2011680" cy="1234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0007" y="19659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EE0000"/>
                </a:solidFill>
                <a:latin typeface="Calibri"/>
              </a:defRPr>
            </a:pPr>
            <a:r>
              <a:t>2,078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007" y="25146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Wire Centers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0287" y="1828800"/>
            <a:ext cx="2011680" cy="1234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0287" y="19659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EE0000"/>
                </a:solidFill>
                <a:latin typeface="Calibri"/>
              </a:defRPr>
            </a:pPr>
            <a:r>
              <a:t>68,071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25146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Clusters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0567" y="1828800"/>
            <a:ext cx="2011680" cy="1234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0567" y="19659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EE0000"/>
                </a:solidFill>
                <a:latin typeface="Calibri"/>
              </a:defRPr>
            </a:pPr>
            <a:r>
              <a:t>26.6%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0567" y="251460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Obligated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6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Avg addresses per cluster: 180  |  Avg units per cluster: 233</a:t>
            </a:r>
          </a:p>
          <a:p>
            <a:pPr>
              <a:spcAft>
                <a:spcPts val="56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Clusters with obligations: 25,333 (37.2%)  |  GeoJSON polygon features: 65,386</a:t>
            </a:r>
          </a:p>
          <a:p>
            <a:pPr>
              <a:spcAft>
                <a:spcPts val="56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ArcGIS File GDB: NONOFS_Master.gdb (~2 GB)  |  Oracle: TABLEAU_USER schema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Formation Scoring — How Clusters Are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Each address receives a 0-100 financial quality score that drives hub seed priority and growth order.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4114800"/>
                <a:gridCol w="466344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Normalization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IRR V2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15-year internal rate of return from V2 ramp model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Min-max within wire center, higher = better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Copper Salvage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Estimated recoverable value of existing copper plant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copper_circuits x $200/circuit, normalized to WC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 Priority Rank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 composite rank (dispatch, sales, geo synergy)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Inverted min-max (lower rank = higher score)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Unit 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MDU/MTU density bonus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min(units / 10, 1.0) - caps at 10+ units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1124712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E0000"/>
                </a:solidFill>
                <a:latin typeface="Calibri"/>
              </a:defRPr>
            </a:pPr>
            <a:r>
              <a:t>Why are obligations excluded from formation?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Obligations change frequently (new mandates, date shifts, scope changes) but cluster boundaries should be stable. Separating obligation tagging from formation means monthly score refreshes don't require re-clustering. The 6-phase algorithm uses only financial quality to build hubs; obligations are applied post-formation as tags.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Obligation Buckets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Each address is tagged with exactly one obligation bucket. Priority-ordered — first match wins.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737360"/>
                <a:gridCol w="5486400"/>
                <a:gridCol w="137160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COP_2026_OBLIG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Planned copper recycling area, start 2026. Fiber must precede copper retirement.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496,908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COP_2027_OBLIG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Planned copper recycling area, start 2027.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386,214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COP_FUTURE_OBLIG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Copper recycling planned, start 2028+.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14,385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SBB_OBLIG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 broadband obligation area (grant or regulatory commitment).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2,344,904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NSI_OBLIG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National Security Interest inquiry match via NTAS bridge.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20,280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LFA_OBLIG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Franchise Authority obligation area.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DISCRETIONARY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external obligation — purely economic decision.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8,999,471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73.4%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394960"/>
            <a:ext cx="11247120" cy="82296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Key Insight:  3.26M addresses (26.6%) carry obligations — these represent mandatory builds driven by copper retirement, state broadband commitments, or national security inquiries. The remaining 73.4% are discretionary and prioritized by financial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Eisenhower Matrix — Build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URGENCY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EE0000"/>
                </a:solidFill>
                <a:latin typeface="Calibri"/>
              </a:defRPr>
            </a:pPr>
            <a:r>
              <a:t>Urgency &gt;=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2801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Urgency &lt;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EE0000"/>
                </a:solidFill>
                <a:latin typeface="Calibri"/>
              </a:defRPr>
            </a:pPr>
            <a:r>
              <a:t>Value &gt;=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976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Value &lt;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37360"/>
            <a:ext cx="4114800" cy="1965960"/>
          </a:xfrm>
          <a:prstGeom prst="roundRect">
            <a:avLst/>
          </a:prstGeom>
          <a:solidFill>
            <a:srgbClr val="CC00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847088"/>
            <a:ext cx="3840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Q1 — Do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384048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6,651 clusters  |  1.1M units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Build immediately: high financial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return AND obligation / operational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pressure. Copper retirement +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strong IRR = top priority.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737360"/>
            <a:ext cx="4114800" cy="196596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847088"/>
            <a:ext cx="3840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Q2 —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40280"/>
            <a:ext cx="384048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44,525 clusters  |  11.1M units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Economically attractive but no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urgency. Schedule into build plan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in ROI-descending order. Largest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bucket by far.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840480"/>
            <a:ext cx="4114800" cy="19659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950208"/>
            <a:ext cx="3840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Q3 — Must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343400"/>
            <a:ext cx="384048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1,039 clusters  |  98K units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Obligation-driven but lower returns.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Build to meet regulatory commitments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even though IRR is below threshold.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840480"/>
            <a:ext cx="4114800" cy="1965960"/>
          </a:xfrm>
          <a:prstGeom prst="roundRect">
            <a:avLst/>
          </a:prstGeom>
          <a:solidFill>
            <a:srgbClr val="88888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950208"/>
            <a:ext cx="3840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Q4 — Deprioritize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343400"/>
            <a:ext cx="384048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15,856 clusters  |  3.5M units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Low return, no obligation. Defer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or evaluate selectively. May become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viable with cost reductions or new</a:t>
            </a:r>
          </a:p>
          <a:p>
            <a:pPr>
              <a:spcAft>
                <a:spcPts val="44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obligations.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089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666666"/>
                </a:solidFill>
                <a:latin typeface="Calibri"/>
              </a:defRPr>
            </a:pPr>
            <a:r>
              <a:t>VALUE 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Urgency &amp; Value Scoring (0–100)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E0000"/>
                </a:solidFill>
                <a:latin typeface="Calibri"/>
              </a:defRPr>
            </a:pPr>
            <a:r>
              <a:t>Urgency Score — "How pressing is the need to build?"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3474720"/>
                <a:gridCol w="53035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Scoring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Obligation Tier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Highest obligation bucket in cluster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COP_2026=100, COP_2027=80, COP_FUTURE=60, SBB=70, NSI=50, LFA=40, DISC=0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Copper Imminence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% of addresses with copper retirement 2026-2027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Linear: 0% → 0, 100% →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Dispatch Frequency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truck rolls per address (past 12 months)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min(avg_dispatch x 20, 100) — 5+/yr = 100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E0000"/>
                </a:solidFill>
                <a:latin typeface="Calibri"/>
              </a:defRPr>
            </a:pPr>
            <a:r>
              <a:t>Value Score — "How financially attractive is this cluster?"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6052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3474720"/>
                <a:gridCol w="53035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Scoring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IRR V2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Average 15-year IRR across cluster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0% → 0, 15% → 50, 30%+ → 100 (linear)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Terminal Penetration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Average projected FiOS take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min(pen x 200, 100) — 50%+ terminal =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Potential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Average annual EBITDA per address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min(ebitda / $500, 100) — $500+/yr = 100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943600"/>
            <a:ext cx="11247120" cy="594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Clusters scoring &gt;= 50 on both axes are assigned Q1 (Do First). Urgency and Value are independent axes — a cluster can be high-value but low-urgency (Q2) or vice versa (Q3).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Output Tables — Oracle &amp; File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E0000"/>
                </a:solidFill>
                <a:latin typeface="Calibri"/>
              </a:defRPr>
            </a:pPr>
            <a:r>
              <a:t>CLUSTER_ASSIGNMENT_MASTER  —  12,262,162 rows (address-level)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Key: (LOCUS_ADDRESS_ID, RUN_DATE)  |  Location: TABLEAU_USER schema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57400"/>
          <a:ext cx="11247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2184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LOCUS_ADDRESS_ID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Unique address identifier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Hub assignment (format: {CLLI}_H{nnn})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CLLI / REGION / STATE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Wire center, region, state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AUI / NO_OF_UNITS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Address use indicator + NTAS unit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CPO_NTAS / CPO_PRED / TOTAL_CAPEX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metrics: per-unit, per-address, total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COMPUTED_IRR / PEN_TERMINAL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15-yr IRR (V2 ramp) and terminal penetration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OBLIGATION_BUCKET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COP_2026, COP_2027, SBB, NSI, DISCRETIONARY, etc.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FORMATION_SCORE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 quality score (0-100) used during clustering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E0000"/>
                </a:solidFill>
                <a:latin typeface="Calibri"/>
              </a:defRPr>
            </a:pPr>
            <a:r>
              <a:t>CLUSTER_SUMMARY_MASTER  —  68,071 rows (cluster-level)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Key: (CLUSTER_ID, RUN_DATE)  |  Location: TABLEAU_USER schema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93776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2220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CLUSTER_ID / CLLI / REGION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 identity and geography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TOTAL_UNITS / TOTAL_ADDRS / TOTAL_CAPEX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Aggregate size and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AVG_CPP / MEDIAN_IRR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Per Premises and median return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URGENCY_SCORE / VALUE_SCORE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Eisenhower axes (0-100 each)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BUILD_PRIORITY_TIER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Q1_Do_First, Q2_Schedule, Q3_Must_Do, Q4_Deprioritize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22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OBLIGATION_FILL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Pipe-delimited bucket breakdown (e.g., COP_2026:42|SBB:118)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